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8" r:id="rId3"/>
    <p:sldId id="260" r:id="rId4"/>
    <p:sldId id="261" r:id="rId5"/>
    <p:sldId id="262" r:id="rId6"/>
    <p:sldId id="265" r:id="rId7"/>
    <p:sldId id="264" r:id="rId8"/>
    <p:sldId id="266" r:id="rId9"/>
    <p:sldId id="267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7" d="100"/>
          <a:sy n="107" d="100"/>
        </p:scale>
        <p:origin x="10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256486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4572000" cy="4572000"/>
          </a:xfrm>
          <a:prstGeom prst="ellipse">
            <a:avLst/>
          </a:prstGeom>
          <a:solidFill>
            <a:srgbClr val="6366F1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3200400"/>
            <a:ext cx="4114800" cy="4114800"/>
          </a:xfrm>
          <a:prstGeom prst="ellipse">
            <a:avLst/>
          </a:prstGeom>
          <a:solidFill>
            <a:srgbClr val="6366F1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3200400" y="36576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000000"/>
                </a:solidFill>
              </a:rPr>
              <a:t>📇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914400" y="118872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kern="0" spc="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个人通信录管理系统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3200400" y="2057400"/>
            <a:ext cx="2743200" cy="27432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22860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高级语言程序设计 II · 课程大作业答辩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828800" y="3017520"/>
            <a:ext cx="5486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0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黄湘林</a:t>
            </a:r>
            <a:endParaRPr lang="en-US" sz="20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计算机类 3 班  |  学号 202530450655</a:t>
            </a:r>
            <a:endParaRPr lang="en-US" sz="20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年 6 月 10 日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926080" y="4206240"/>
            <a:ext cx="329184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7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2926080" y="42062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C++17  ·  Qt6  ·  DeepSeek API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26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33172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0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功能总览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229600" y="470916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核心功能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115568"/>
            <a:ext cx="1234440" cy="1417320"/>
          </a:xfrm>
          <a:prstGeom prst="rect">
            <a:avLst/>
          </a:prstGeom>
          <a:solidFill>
            <a:srgbClr val="1E3260"/>
          </a:solidFill>
          <a:ln/>
          <a:effectLst>
            <a:outerShdw blurRad="38100" dist="127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115568"/>
            <a:ext cx="1234440" cy="27432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252728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📝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1572768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0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录入编辑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05790" y="1906524"/>
            <a:ext cx="108813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表单对话框 + 菜单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姓名生日锁定保护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1892808" y="1115568"/>
            <a:ext cx="1234440" cy="1417320"/>
          </a:xfrm>
          <a:prstGeom prst="rect">
            <a:avLst/>
          </a:prstGeom>
          <a:solidFill>
            <a:srgbClr val="1E3260"/>
          </a:solidFill>
          <a:ln/>
          <a:effectLst>
            <a:outerShdw blurRad="38100" dist="127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892808" y="1115568"/>
            <a:ext cx="1234440" cy="27432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2" name="Text 10"/>
          <p:cNvSpPr/>
          <p:nvPr/>
        </p:nvSpPr>
        <p:spPr>
          <a:xfrm>
            <a:off x="1892808" y="1252728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🔍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892808" y="1572768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0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查询搜索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869948" y="1975104"/>
            <a:ext cx="127101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姓名/姓氏/电话/邮箱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年份/组合条件筛选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214116" y="1110996"/>
            <a:ext cx="1234440" cy="1417320"/>
          </a:xfrm>
          <a:prstGeom prst="rect">
            <a:avLst/>
          </a:prstGeom>
          <a:solidFill>
            <a:srgbClr val="1E3260"/>
          </a:solidFill>
          <a:ln/>
          <a:effectLst>
            <a:outerShdw blurRad="38100" dist="127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36976" y="1115568"/>
            <a:ext cx="1234440" cy="27432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7" name="Text 15"/>
          <p:cNvSpPr/>
          <p:nvPr/>
        </p:nvSpPr>
        <p:spPr>
          <a:xfrm>
            <a:off x="3236976" y="1252728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236976" y="1572768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0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排序浏览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195827" y="1847088"/>
            <a:ext cx="1271017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50" dirty="0" err="1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拼音排序</a:t>
            </a:r>
            <a:endParaRPr lang="en-US" sz="850" dirty="0">
              <a:solidFill>
                <a:srgbClr val="94A3B8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（CompareStringW）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 err="1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生日排序</a:t>
            </a:r>
            <a:endParaRPr lang="en-US" sz="850" dirty="0">
              <a:solidFill>
                <a:srgbClr val="94A3B8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（年月日三元组）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581144" y="1115568"/>
            <a:ext cx="1234440" cy="1417320"/>
          </a:xfrm>
          <a:prstGeom prst="rect">
            <a:avLst/>
          </a:prstGeom>
          <a:solidFill>
            <a:srgbClr val="1E3260"/>
          </a:solidFill>
          <a:ln/>
          <a:effectLst>
            <a:outerShdw blurRad="38100" dist="127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81144" y="1115568"/>
            <a:ext cx="1234440" cy="27432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22" name="Text 20"/>
          <p:cNvSpPr/>
          <p:nvPr/>
        </p:nvSpPr>
        <p:spPr>
          <a:xfrm>
            <a:off x="4581144" y="1252728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🎂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581144" y="1572768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0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生日提醒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88002" y="1929384"/>
            <a:ext cx="12344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5天内扫描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贺信自动排版生成txt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925312" y="1115568"/>
            <a:ext cx="1234440" cy="1417320"/>
          </a:xfrm>
          <a:prstGeom prst="rect">
            <a:avLst/>
          </a:prstGeom>
          <a:solidFill>
            <a:srgbClr val="1E3260"/>
          </a:solidFill>
          <a:ln/>
          <a:effectLst>
            <a:outerShdw blurRad="38100" dist="127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925312" y="1115568"/>
            <a:ext cx="1234440" cy="27432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27" name="Text 25"/>
          <p:cNvSpPr/>
          <p:nvPr/>
        </p:nvSpPr>
        <p:spPr>
          <a:xfrm>
            <a:off x="5925312" y="1252728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📈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925312" y="1572768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0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统计输出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998464" y="1847088"/>
            <a:ext cx="108813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按月统计/生日相同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四类人数/全员简表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7269480" y="1115568"/>
            <a:ext cx="1234440" cy="1417320"/>
          </a:xfrm>
          <a:prstGeom prst="rect">
            <a:avLst/>
          </a:prstGeom>
          <a:solidFill>
            <a:srgbClr val="1E3260"/>
          </a:solidFill>
          <a:ln/>
          <a:effectLst>
            <a:outerShdw blurRad="38100" dist="127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269480" y="1115568"/>
            <a:ext cx="1234440" cy="27432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2" name="Text 30"/>
          <p:cNvSpPr/>
          <p:nvPr/>
        </p:nvSpPr>
        <p:spPr>
          <a:xfrm>
            <a:off x="7269480" y="1252728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💾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7269480" y="1572768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0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文件保存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342632" y="1847088"/>
            <a:ext cx="108813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四类分存CSV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UTF-8编码, 逗号分隔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548640" y="263804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扩展功能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548640" y="2912364"/>
            <a:ext cx="1234440" cy="1417320"/>
          </a:xfrm>
          <a:prstGeom prst="rect">
            <a:avLst/>
          </a:prstGeom>
          <a:solidFill>
            <a:srgbClr val="1E3260"/>
          </a:solidFill>
          <a:ln/>
          <a:effectLst>
            <a:outerShdw blurRad="38100" dist="127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548640" y="2912364"/>
            <a:ext cx="1234440" cy="2743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8" name="Text 36"/>
          <p:cNvSpPr/>
          <p:nvPr/>
        </p:nvSpPr>
        <p:spPr>
          <a:xfrm>
            <a:off x="548640" y="3049524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🖥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548640" y="3369564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0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Qt6 界面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21792" y="3643884"/>
            <a:ext cx="108813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左右分栏/暗亮双主题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表头排序/状态栏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1892808" y="2912364"/>
            <a:ext cx="1234440" cy="1417320"/>
          </a:xfrm>
          <a:prstGeom prst="rect">
            <a:avLst/>
          </a:prstGeom>
          <a:solidFill>
            <a:srgbClr val="1E3260"/>
          </a:solidFill>
          <a:ln/>
          <a:effectLst>
            <a:outerShdw blurRad="38100" dist="127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1892808" y="2912364"/>
            <a:ext cx="1234440" cy="2743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3" name="Text 41"/>
          <p:cNvSpPr/>
          <p:nvPr/>
        </p:nvSpPr>
        <p:spPr>
          <a:xfrm>
            <a:off x="1892808" y="3049524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🤖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1892808" y="3369564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0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交互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1965960" y="3643884"/>
            <a:ext cx="108813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自然语言→JSON命令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18种action+15条示例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3236976" y="2912364"/>
            <a:ext cx="1234440" cy="1417320"/>
          </a:xfrm>
          <a:prstGeom prst="rect">
            <a:avLst/>
          </a:prstGeom>
          <a:solidFill>
            <a:srgbClr val="1E3260"/>
          </a:solidFill>
          <a:ln/>
          <a:effectLst>
            <a:outerShdw blurRad="38100" dist="127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3236976" y="2912364"/>
            <a:ext cx="1234440" cy="2743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8" name="Text 46"/>
          <p:cNvSpPr/>
          <p:nvPr/>
        </p:nvSpPr>
        <p:spPr>
          <a:xfrm>
            <a:off x="3236976" y="3049524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49" name="Text 47"/>
          <p:cNvSpPr/>
          <p:nvPr/>
        </p:nvSpPr>
        <p:spPr>
          <a:xfrm>
            <a:off x="3236976" y="3369564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0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数据可视化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3310128" y="3643884"/>
            <a:ext cx="108813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QPainter自绘饼图柱状图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自适应主题色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4581144" y="2912364"/>
            <a:ext cx="1234440" cy="1417320"/>
          </a:xfrm>
          <a:prstGeom prst="rect">
            <a:avLst/>
          </a:prstGeom>
          <a:solidFill>
            <a:srgbClr val="1E3260"/>
          </a:solidFill>
          <a:ln/>
          <a:effectLst>
            <a:outerShdw blurRad="38100" dist="127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4581144" y="2912364"/>
            <a:ext cx="1234440" cy="2743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3" name="Text 51"/>
          <p:cNvSpPr/>
          <p:nvPr/>
        </p:nvSpPr>
        <p:spPr>
          <a:xfrm>
            <a:off x="4581144" y="3049524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↶</a:t>
            </a:r>
            <a:endParaRPr lang="en-US" sz="1800" dirty="0"/>
          </a:p>
        </p:txBody>
      </p:sp>
      <p:sp>
        <p:nvSpPr>
          <p:cNvPr id="54" name="Text 52"/>
          <p:cNvSpPr/>
          <p:nvPr/>
        </p:nvSpPr>
        <p:spPr>
          <a:xfrm>
            <a:off x="4581144" y="3369564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0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撤销操作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4654296" y="3643884"/>
            <a:ext cx="108813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Ctrl+Z快照恢复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覆盖增/删/改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5925312" y="2912364"/>
            <a:ext cx="1234440" cy="1417320"/>
          </a:xfrm>
          <a:prstGeom prst="rect">
            <a:avLst/>
          </a:prstGeom>
          <a:solidFill>
            <a:srgbClr val="1E3260"/>
          </a:solidFill>
          <a:ln/>
          <a:effectLst>
            <a:outerShdw blurRad="38100" dist="127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5925312" y="2912364"/>
            <a:ext cx="1234440" cy="2743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8" name="Text 56"/>
          <p:cNvSpPr/>
          <p:nvPr/>
        </p:nvSpPr>
        <p:spPr>
          <a:xfrm>
            <a:off x="5925312" y="3049524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⌨</a:t>
            </a:r>
            <a:endParaRPr lang="en-US" sz="1800" dirty="0"/>
          </a:p>
        </p:txBody>
      </p:sp>
      <p:sp>
        <p:nvSpPr>
          <p:cNvPr id="59" name="Text 57"/>
          <p:cNvSpPr/>
          <p:nvPr/>
        </p:nvSpPr>
        <p:spPr>
          <a:xfrm>
            <a:off x="5925312" y="3369564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0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快捷键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5998464" y="3643884"/>
            <a:ext cx="108813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Ctrl+N/F/S/Z  Delete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F5刷新 右键菜单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7269480" y="2912364"/>
            <a:ext cx="1234440" cy="1417320"/>
          </a:xfrm>
          <a:prstGeom prst="rect">
            <a:avLst/>
          </a:prstGeom>
          <a:solidFill>
            <a:srgbClr val="1E3260"/>
          </a:solidFill>
          <a:ln/>
          <a:effectLst>
            <a:outerShdw blurRad="38100" dist="127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7269480" y="2912364"/>
            <a:ext cx="1234440" cy="2743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3" name="Text 61"/>
          <p:cNvSpPr/>
          <p:nvPr/>
        </p:nvSpPr>
        <p:spPr>
          <a:xfrm>
            <a:off x="7269480" y="3049524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🌓</a:t>
            </a:r>
            <a:endParaRPr lang="en-US" sz="1800" dirty="0"/>
          </a:p>
        </p:txBody>
      </p:sp>
      <p:sp>
        <p:nvSpPr>
          <p:cNvPr id="64" name="Text 62"/>
          <p:cNvSpPr/>
          <p:nvPr/>
        </p:nvSpPr>
        <p:spPr>
          <a:xfrm>
            <a:off x="7269480" y="3369564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0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主题切换</a:t>
            </a:r>
            <a:endParaRPr lang="en-US" sz="1200" dirty="0"/>
          </a:p>
        </p:txBody>
      </p:sp>
      <p:sp>
        <p:nvSpPr>
          <p:cNvPr id="65" name="Text 63"/>
          <p:cNvSpPr/>
          <p:nvPr/>
        </p:nvSpPr>
        <p:spPr>
          <a:xfrm>
            <a:off x="7342632" y="3643884"/>
            <a:ext cx="108813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双套完整QSS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全局控件一键切换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26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0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双层架构设计 —— 一套核心，两个界面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229600" y="470916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2560320" cy="731520"/>
          </a:xfrm>
          <a:prstGeom prst="rect">
            <a:avLst/>
          </a:prstGeom>
          <a:solidFill>
            <a:srgbClr val="1E3260"/>
          </a:solidFill>
          <a:ln/>
          <a:effectLst>
            <a:outerShdw blurRad="381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05840"/>
            <a:ext cx="54864" cy="7315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09728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🖥 终端版</a:t>
            </a:r>
            <a:endParaRPr lang="en-US" sz="14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main_terminal.cpp (~200 行)</a:t>
            </a:r>
            <a:endParaRPr lang="en-US" sz="14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ASCII 菜单 · 标准输入输出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035040" y="1005840"/>
            <a:ext cx="2560320" cy="731520"/>
          </a:xfrm>
          <a:prstGeom prst="rect">
            <a:avLst/>
          </a:prstGeom>
          <a:solidFill>
            <a:srgbClr val="1E3260"/>
          </a:solidFill>
          <a:ln/>
          <a:effectLst>
            <a:outerShdw blurRad="381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035040" y="1005840"/>
            <a:ext cx="54864" cy="7315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/>
          <p:nvPr/>
        </p:nvSpPr>
        <p:spPr>
          <a:xfrm>
            <a:off x="6263640" y="109728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🖼 Qt6 图形界面</a:t>
            </a:r>
            <a:endParaRPr lang="en-US" sz="14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MainWindow.cpp/.hpp (~1200 行)</a:t>
            </a:r>
            <a:endParaRPr lang="en-US" sz="14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信号槽驱动 · 双主题 · AI交互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645920" y="17373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</a:rPr>
              <a:t>▼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132320" y="17373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</a:rPr>
              <a:t>▼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371600" y="2103120"/>
            <a:ext cx="6400800" cy="1280160"/>
          </a:xfrm>
          <a:prstGeom prst="rect">
            <a:avLst/>
          </a:prstGeom>
          <a:solidFill>
            <a:srgbClr val="6366F1">
              <a:alpha val="80000"/>
            </a:srgbClr>
          </a:solidFill>
          <a:ln w="19050">
            <a:solidFill>
              <a:srgbClr val="818CF8"/>
            </a:solidFill>
            <a:prstDash val="solid"/>
          </a:ln>
          <a:effectLst>
            <a:outerShdw blurRad="101600" dist="25400" dir="8100000" algn="bl" rotWithShape="0">
              <a:srgbClr val="6366F1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431758" y="2212848"/>
            <a:ext cx="62804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Core.hpp  （业务逻辑中枢 ~500 行）</a:t>
            </a:r>
            <a:endParaRPr lang="en-US" sz="16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 抽象基类 + 4 派生类  |  AddressBookManager  |  全部CRUD/排序/统计/生日检测/文件I/O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645920" y="2761488"/>
            <a:ext cx="5852160" cy="502920"/>
          </a:xfrm>
          <a:prstGeom prst="rect">
            <a:avLst/>
          </a:prstGeom>
          <a:solidFill>
            <a:srgbClr val="0D1117"/>
          </a:solidFill>
          <a:ln/>
        </p:spPr>
        <p:txBody>
          <a:bodyPr/>
          <a:lstStyle/>
          <a:p>
            <a:endParaRPr lang="zh-CN" altLang="en-US" dirty="0"/>
          </a:p>
        </p:txBody>
      </p:sp>
      <p:sp>
        <p:nvSpPr>
          <p:cNvPr id="15" name="Text 13"/>
          <p:cNvSpPr/>
          <p:nvPr/>
        </p:nvSpPr>
        <p:spPr>
          <a:xfrm>
            <a:off x="1737360" y="2779776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Person { ... };   // 抽象基类 + 4个派生类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AddressBookManager { vector&lt;unique_ptr&lt;Person&gt;&gt; contacts; ... };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114800" y="34061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</a:rPr>
              <a:t>▼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2103120" y="3749040"/>
            <a:ext cx="4572000" cy="502920"/>
          </a:xfrm>
          <a:prstGeom prst="rect">
            <a:avLst/>
          </a:prstGeom>
          <a:solidFill>
            <a:srgbClr val="1E3260"/>
          </a:solidFill>
          <a:ln/>
        </p:spPr>
      </p:sp>
      <p:sp>
        <p:nvSpPr>
          <p:cNvPr id="18" name="Text 16"/>
          <p:cNvSpPr/>
          <p:nvPr/>
        </p:nvSpPr>
        <p:spPr>
          <a:xfrm>
            <a:off x="2103120" y="374904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0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vector&lt;unique_ptr&lt;Person&gt;&gt;   ⇄   AddressBook1~4.txt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03504" y="4572547"/>
            <a:ext cx="8046720" cy="365760"/>
          </a:xfrm>
          <a:prstGeom prst="rect">
            <a:avLst/>
          </a:prstGeom>
          <a:solidFill>
            <a:srgbClr val="243B70"/>
          </a:solidFill>
          <a:ln/>
        </p:spPr>
      </p:sp>
      <p:sp>
        <p:nvSpPr>
          <p:cNvPr id="20" name="Text 18"/>
          <p:cNvSpPr/>
          <p:nvPr/>
        </p:nvSpPr>
        <p:spPr>
          <a:xfrm>
            <a:off x="786384" y="4572547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核心设计：业务逻辑写一次，两个界面复用 — 修改 Core.hpp 同时影响终端版和 GUI 版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26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0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面向对象设计：抽象基类 + </a:t>
            </a:r>
            <a:r>
              <a:rPr lang="en-US" sz="2800" b="1" dirty="0" err="1">
                <a:solidFill>
                  <a:srgbClr val="F0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四派生类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229600" y="470916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2097405" y="1305229"/>
            <a:ext cx="2560320" cy="822960"/>
          </a:xfrm>
          <a:prstGeom prst="rect">
            <a:avLst/>
          </a:prstGeom>
          <a:solidFill>
            <a:srgbClr val="6366F1">
              <a:alpha val="70000"/>
            </a:srgbClr>
          </a:solidFill>
          <a:ln w="15240">
            <a:solidFill>
              <a:srgbClr val="818C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34565" y="1378381"/>
            <a:ext cx="22860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0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Person（抽象基类）</a:t>
            </a:r>
            <a:endParaRPr lang="en-US" sz="12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  birthDate  phone  email</a:t>
            </a:r>
            <a:endParaRPr lang="en-US" sz="12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display() = 0</a:t>
            </a:r>
          </a:p>
          <a:p>
            <a:pPr marL="0" indent="0" algn="ctr">
              <a:buNone/>
            </a:pPr>
            <a:r>
              <a:rPr lang="en-US" sz="900" dirty="0" err="1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formatForFile</a:t>
            </a:r>
            <a:r>
              <a:rPr lang="en-US" sz="9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= 0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91840" y="2128189"/>
            <a:ext cx="0" cy="310896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Shape 5"/>
          <p:cNvSpPr/>
          <p:nvPr/>
        </p:nvSpPr>
        <p:spPr>
          <a:xfrm>
            <a:off x="1097280" y="2439085"/>
            <a:ext cx="4297242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97280" y="2439085"/>
            <a:ext cx="0" cy="27432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713405"/>
            <a:ext cx="1097280" cy="822960"/>
          </a:xfrm>
          <a:prstGeom prst="rect">
            <a:avLst/>
          </a:prstGeom>
          <a:solidFill>
            <a:srgbClr val="1E3260"/>
          </a:solidFill>
          <a:ln w="12700">
            <a:solidFill>
              <a:srgbClr val="3B82F6"/>
            </a:solidFill>
            <a:prstDash val="solid"/>
          </a:ln>
          <a:effectLst>
            <a:outerShdw blurRad="25400" dist="127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2713405"/>
            <a:ext cx="109728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2804845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同学</a:t>
            </a:r>
            <a:endParaRPr lang="en-US" sz="8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0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Classmate</a:t>
            </a:r>
            <a:endParaRPr lang="en-US" sz="8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school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552445" y="2432712"/>
            <a:ext cx="0" cy="27432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13" name="Shape 11"/>
          <p:cNvSpPr/>
          <p:nvPr/>
        </p:nvSpPr>
        <p:spPr>
          <a:xfrm>
            <a:off x="1995054" y="2713405"/>
            <a:ext cx="1097280" cy="822960"/>
          </a:xfrm>
          <a:prstGeom prst="rect">
            <a:avLst/>
          </a:prstGeom>
          <a:solidFill>
            <a:srgbClr val="1E3260"/>
          </a:solidFill>
          <a:ln w="12700">
            <a:solidFill>
              <a:srgbClr val="10B981"/>
            </a:solidFill>
            <a:prstDash val="solid"/>
          </a:ln>
          <a:effectLst>
            <a:outerShdw blurRad="25400" dist="127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995054" y="2713405"/>
            <a:ext cx="1097280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2040774" y="2804845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同事</a:t>
            </a:r>
            <a:endParaRPr lang="en-US" sz="8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0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Colleague</a:t>
            </a:r>
            <a:endParaRPr lang="en-US" sz="8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company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5394522" y="2432712"/>
            <a:ext cx="0" cy="27432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17" name="Shape 15"/>
          <p:cNvSpPr/>
          <p:nvPr/>
        </p:nvSpPr>
        <p:spPr>
          <a:xfrm>
            <a:off x="4873213" y="2713405"/>
            <a:ext cx="1097280" cy="822960"/>
          </a:xfrm>
          <a:prstGeom prst="rect">
            <a:avLst/>
          </a:prstGeom>
          <a:solidFill>
            <a:srgbClr val="1E3260"/>
          </a:solidFill>
          <a:ln w="12700">
            <a:solidFill>
              <a:srgbClr val="F59E0B"/>
            </a:solidFill>
            <a:prstDash val="solid"/>
          </a:ln>
          <a:effectLst>
            <a:outerShdw blurRad="25400" dist="127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73213" y="2713405"/>
            <a:ext cx="109728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9" name="Text 17"/>
          <p:cNvSpPr/>
          <p:nvPr/>
        </p:nvSpPr>
        <p:spPr>
          <a:xfrm>
            <a:off x="4918933" y="2804845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朋友</a:t>
            </a:r>
            <a:endParaRPr lang="en-US" sz="8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0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Friend</a:t>
            </a:r>
            <a:endParaRPr lang="en-US" sz="8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place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492240" y="8229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OOP 三大特性落地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492240" y="1234440"/>
            <a:ext cx="2377440" cy="841248"/>
          </a:xfrm>
          <a:prstGeom prst="rect">
            <a:avLst/>
          </a:prstGeom>
          <a:solidFill>
            <a:srgbClr val="1E3260"/>
          </a:solidFill>
          <a:ln/>
        </p:spPr>
      </p:sp>
      <p:sp>
        <p:nvSpPr>
          <p:cNvPr id="26" name="Shape 24"/>
          <p:cNvSpPr/>
          <p:nvPr/>
        </p:nvSpPr>
        <p:spPr>
          <a:xfrm>
            <a:off x="6492240" y="1234440"/>
            <a:ext cx="36576" cy="841248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27" name="Text 25"/>
          <p:cNvSpPr/>
          <p:nvPr/>
        </p:nvSpPr>
        <p:spPr>
          <a:xfrm>
            <a:off x="6601968" y="1307592"/>
            <a:ext cx="21945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封装 Encapsulation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数据字段 protected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仅通过 getter/setter 访问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电话/</a:t>
            </a:r>
            <a:r>
              <a:rPr lang="en-US" sz="900" dirty="0" err="1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邮箱可改，姓名</a:t>
            </a: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</a:t>
            </a:r>
            <a:r>
              <a:rPr lang="zh-CN" alt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生日</a:t>
            </a:r>
            <a:r>
              <a:rPr lang="en-US" sz="900" dirty="0" err="1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不可改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528816" y="2189988"/>
            <a:ext cx="2377440" cy="841248"/>
          </a:xfrm>
          <a:prstGeom prst="rect">
            <a:avLst/>
          </a:prstGeom>
          <a:solidFill>
            <a:srgbClr val="1E3260"/>
          </a:solidFill>
          <a:ln/>
        </p:spPr>
      </p:sp>
      <p:sp>
        <p:nvSpPr>
          <p:cNvPr id="29" name="Shape 27"/>
          <p:cNvSpPr/>
          <p:nvPr/>
        </p:nvSpPr>
        <p:spPr>
          <a:xfrm>
            <a:off x="6492240" y="2194560"/>
            <a:ext cx="36576" cy="84124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0" name="Text 28"/>
          <p:cNvSpPr/>
          <p:nvPr/>
        </p:nvSpPr>
        <p:spPr>
          <a:xfrm>
            <a:off x="6601968" y="2267712"/>
            <a:ext cx="21945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继承 Inheritance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子类复用基类 4 字段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 err="1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各自扩展</a:t>
            </a: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 个专属字段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接口自动继承无需重声明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492240" y="3154680"/>
            <a:ext cx="2377440" cy="841248"/>
          </a:xfrm>
          <a:prstGeom prst="rect">
            <a:avLst/>
          </a:prstGeom>
          <a:solidFill>
            <a:srgbClr val="1E3260"/>
          </a:solidFill>
          <a:ln/>
        </p:spPr>
      </p:sp>
      <p:sp>
        <p:nvSpPr>
          <p:cNvPr id="32" name="Shape 30"/>
          <p:cNvSpPr/>
          <p:nvPr/>
        </p:nvSpPr>
        <p:spPr>
          <a:xfrm>
            <a:off x="6492240" y="3154680"/>
            <a:ext cx="36576" cy="841248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3" name="Text 31"/>
          <p:cNvSpPr/>
          <p:nvPr/>
        </p:nvSpPr>
        <p:spPr>
          <a:xfrm>
            <a:off x="6601968" y="3227832"/>
            <a:ext cx="21945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多态 Polymorphism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基类指针调 display()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各子类 override 不同输出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调用侧零 if-else / switch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74320" y="4297680"/>
            <a:ext cx="8595360" cy="50292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35" name="Text 33"/>
          <p:cNvSpPr/>
          <p:nvPr/>
        </p:nvSpPr>
        <p:spPr>
          <a:xfrm>
            <a:off x="457200" y="431596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多态调用示例：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(const auto &amp;p : contacts) { p-&gt;display(); }  </a:t>
            </a: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不需知道 p 指向 Classmate 还是 Relative</a:t>
            </a:r>
            <a:endParaRPr lang="en-US" sz="950" dirty="0"/>
          </a:p>
        </p:txBody>
      </p:sp>
      <p:sp>
        <p:nvSpPr>
          <p:cNvPr id="37" name="Shape 11">
            <a:extLst>
              <a:ext uri="{FF2B5EF4-FFF2-40B4-BE49-F238E27FC236}">
                <a16:creationId xmlns:a16="http://schemas.microsoft.com/office/drawing/2014/main" id="{5563F1F1-28E2-B625-416A-AF4A2CC824A0}"/>
              </a:ext>
            </a:extLst>
          </p:cNvPr>
          <p:cNvSpPr/>
          <p:nvPr/>
        </p:nvSpPr>
        <p:spPr>
          <a:xfrm>
            <a:off x="3437066" y="2713405"/>
            <a:ext cx="1097280" cy="822960"/>
          </a:xfrm>
          <a:prstGeom prst="rect">
            <a:avLst/>
          </a:prstGeom>
          <a:solidFill>
            <a:srgbClr val="1E3260"/>
          </a:solidFill>
          <a:ln w="12700">
            <a:solidFill>
              <a:srgbClr val="10B981"/>
            </a:solidFill>
            <a:prstDash val="solid"/>
          </a:ln>
          <a:effectLst>
            <a:outerShdw blurRad="25400" dist="127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9" name="Shape 12">
            <a:extLst>
              <a:ext uri="{FF2B5EF4-FFF2-40B4-BE49-F238E27FC236}">
                <a16:creationId xmlns:a16="http://schemas.microsoft.com/office/drawing/2014/main" id="{0CA78061-E23E-4FDB-1D0B-4CC38F1E1FD4}"/>
              </a:ext>
            </a:extLst>
          </p:cNvPr>
          <p:cNvSpPr/>
          <p:nvPr/>
        </p:nvSpPr>
        <p:spPr>
          <a:xfrm>
            <a:off x="3437066" y="2713405"/>
            <a:ext cx="1097280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1" name="Text 13">
            <a:extLst>
              <a:ext uri="{FF2B5EF4-FFF2-40B4-BE49-F238E27FC236}">
                <a16:creationId xmlns:a16="http://schemas.microsoft.com/office/drawing/2014/main" id="{CC36A39C-8F0E-552B-BEF5-357DB543FE37}"/>
              </a:ext>
            </a:extLst>
          </p:cNvPr>
          <p:cNvSpPr/>
          <p:nvPr/>
        </p:nvSpPr>
        <p:spPr>
          <a:xfrm>
            <a:off x="3482786" y="2804845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zh-CN" altLang="en-US" sz="800" dirty="0">
                <a:solidFill>
                  <a:srgbClr val="64748B"/>
                </a:solidFill>
                <a:latin typeface="Consolas" pitchFamily="34" charset="0"/>
              </a:rPr>
              <a:t>亲戚</a:t>
            </a:r>
            <a:endParaRPr lang="en-US" sz="800" dirty="0"/>
          </a:p>
          <a:p>
            <a:pPr marL="0" indent="0" algn="ctr">
              <a:buNone/>
            </a:pPr>
            <a:r>
              <a:rPr lang="en-US" altLang="zh-CN" sz="1000" b="1" dirty="0">
                <a:solidFill>
                  <a:srgbClr val="F0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Relative</a:t>
            </a:r>
            <a:endParaRPr lang="en-US" sz="8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relation</a:t>
            </a:r>
            <a:endParaRPr lang="en-US" sz="800" dirty="0"/>
          </a:p>
        </p:txBody>
      </p:sp>
      <p:sp>
        <p:nvSpPr>
          <p:cNvPr id="43" name="Shape 10">
            <a:extLst>
              <a:ext uri="{FF2B5EF4-FFF2-40B4-BE49-F238E27FC236}">
                <a16:creationId xmlns:a16="http://schemas.microsoft.com/office/drawing/2014/main" id="{203BA8A1-7418-8D0A-55E8-6D8C046F6EB7}"/>
              </a:ext>
            </a:extLst>
          </p:cNvPr>
          <p:cNvSpPr/>
          <p:nvPr/>
        </p:nvSpPr>
        <p:spPr>
          <a:xfrm>
            <a:off x="4017381" y="2432712"/>
            <a:ext cx="0" cy="27432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26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0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智能指针 + 多态容器 + CSV 持久化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229600" y="470916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320040" y="1270972"/>
            <a:ext cx="2651760" cy="1691640"/>
          </a:xfrm>
          <a:prstGeom prst="rect">
            <a:avLst/>
          </a:prstGeom>
          <a:solidFill>
            <a:srgbClr val="1E3260"/>
          </a:solidFill>
          <a:ln/>
          <a:effectLst>
            <a:outerShdw blurRad="381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270972"/>
            <a:ext cx="2651760" cy="36576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40813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  自动内存管理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773892"/>
            <a:ext cx="2697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std::vector&lt;std::unique_ptr&lt;Person&gt;&gt;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2048212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独占所有权 · RAII 自动析构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2322532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全项目零 delete 语句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2596852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离开作用域即释放内存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154680" y="1270972"/>
            <a:ext cx="2651760" cy="1691640"/>
          </a:xfrm>
          <a:prstGeom prst="rect">
            <a:avLst/>
          </a:prstGeom>
          <a:solidFill>
            <a:srgbClr val="1E3260"/>
          </a:solidFill>
          <a:ln/>
          <a:effectLst>
            <a:outerShdw blurRad="381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54680" y="1270972"/>
            <a:ext cx="2651760" cy="3657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3" name="Text 11"/>
          <p:cNvSpPr/>
          <p:nvPr/>
        </p:nvSpPr>
        <p:spPr>
          <a:xfrm>
            <a:off x="3291840" y="140813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🔄  多态存储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291840" y="1773892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vector 声明元素类型：基类指针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291840" y="2048212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实际存入：make_unique&lt;派生类&gt;()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291840" y="2322532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取出调用 → 自动多态分发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291840" y="2596852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类型判断由虚函数表完成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989320" y="1270972"/>
            <a:ext cx="2651760" cy="1691640"/>
          </a:xfrm>
          <a:prstGeom prst="rect">
            <a:avLst/>
          </a:prstGeom>
          <a:solidFill>
            <a:srgbClr val="1E3260"/>
          </a:solidFill>
          <a:ln/>
          <a:effectLst>
            <a:outerShdw blurRad="381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989320" y="1270972"/>
            <a:ext cx="265176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0" name="Text 18"/>
          <p:cNvSpPr/>
          <p:nvPr/>
        </p:nvSpPr>
        <p:spPr>
          <a:xfrm>
            <a:off x="6126480" y="140813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💾  CSV 文件持久化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126480" y="1773892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AddressBook1.txt ~ Book4.txt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126480" y="2048212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格式：姓名,年,月,日,电话,邮箱,专属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126480" y="2322532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加载按文件编号反序列化到对应类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126480" y="2596852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UTF-8 编码 · Windows宽字符路径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0040" y="3319272"/>
            <a:ext cx="8503920" cy="128016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3346704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86076" y="3525012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加载联系人：基类指针接收派生对象（多态）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case 1: addPerson(std::make_unique&lt;Classmate&gt;(tokens[0], d, tokens[4], tokens[5], tokens[6])); break;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case 2: addPerson(std::make_unique&lt;Colleague&gt;(tokens[0], d, tokens[4], tokens[5], tokens[6])); break;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case 3: addPerson(std::make_unique&lt;Friend&gt;(...));   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case 4: addPerson(std::make_unique&lt;Relative&gt;(...)); 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vector&lt;unique_ptr&lt;Person&gt;&gt; contacts — 离开作用域自动析构，零泄漏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26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0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自然语言交互 —— 意图翻译器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229600" y="470916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80060" y="914400"/>
            <a:ext cx="1417320" cy="1325880"/>
          </a:xfrm>
          <a:prstGeom prst="rect">
            <a:avLst/>
          </a:prstGeom>
          <a:solidFill>
            <a:srgbClr val="1E3260"/>
          </a:solidFill>
          <a:ln/>
          <a:effectLst>
            <a:outerShdw blurRad="381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80060" y="914400"/>
            <a:ext cx="1417320" cy="3657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6" name="Shape 4"/>
          <p:cNvSpPr/>
          <p:nvPr/>
        </p:nvSpPr>
        <p:spPr>
          <a:xfrm>
            <a:off x="1024128" y="1024128"/>
            <a:ext cx="329184" cy="329184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7" name="Text 5"/>
          <p:cNvSpPr/>
          <p:nvPr/>
        </p:nvSpPr>
        <p:spPr>
          <a:xfrm>
            <a:off x="1024128" y="102412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53212" y="1417320"/>
            <a:ext cx="127101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0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用户输入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53796" y="1653613"/>
            <a:ext cx="106984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"五月生日的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同学有谁？"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897380" y="128016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171700" y="914400"/>
            <a:ext cx="1417320" cy="1325880"/>
          </a:xfrm>
          <a:prstGeom prst="rect">
            <a:avLst/>
          </a:prstGeom>
          <a:solidFill>
            <a:srgbClr val="1E3260"/>
          </a:solidFill>
          <a:ln/>
          <a:effectLst>
            <a:outerShdw blurRad="381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171700" y="914400"/>
            <a:ext cx="1417320" cy="36576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13" name="Shape 11"/>
          <p:cNvSpPr/>
          <p:nvPr/>
        </p:nvSpPr>
        <p:spPr>
          <a:xfrm>
            <a:off x="2715768" y="1024128"/>
            <a:ext cx="329184" cy="329184"/>
          </a:xfrm>
          <a:prstGeom prst="ellipse">
            <a:avLst/>
          </a:prstGeom>
          <a:solidFill>
            <a:srgbClr val="818CF8"/>
          </a:solidFill>
          <a:ln/>
        </p:spPr>
      </p:sp>
      <p:sp>
        <p:nvSpPr>
          <p:cNvPr id="14" name="Text 12"/>
          <p:cNvSpPr/>
          <p:nvPr/>
        </p:nvSpPr>
        <p:spPr>
          <a:xfrm>
            <a:off x="2715768" y="102412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244852" y="1417320"/>
            <a:ext cx="127101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0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DeepSeek API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244852" y="1653613"/>
            <a:ext cx="127101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系统提示词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18种action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15条示例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589020" y="128016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863340" y="914400"/>
            <a:ext cx="1417320" cy="1325880"/>
          </a:xfrm>
          <a:prstGeom prst="rect">
            <a:avLst/>
          </a:prstGeom>
          <a:solidFill>
            <a:srgbClr val="1E3260"/>
          </a:solidFill>
          <a:ln/>
          <a:effectLst>
            <a:outerShdw blurRad="381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863340" y="914400"/>
            <a:ext cx="141732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0" name="Shape 18"/>
          <p:cNvSpPr/>
          <p:nvPr/>
        </p:nvSpPr>
        <p:spPr>
          <a:xfrm>
            <a:off x="4407408" y="1024128"/>
            <a:ext cx="329184" cy="32918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1" name="Text 19"/>
          <p:cNvSpPr/>
          <p:nvPr/>
        </p:nvSpPr>
        <p:spPr>
          <a:xfrm>
            <a:off x="4407408" y="102412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936492" y="1417320"/>
            <a:ext cx="127101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0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 输出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936492" y="1645920"/>
            <a:ext cx="127101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{"</a:t>
            </a:r>
            <a:r>
              <a:rPr lang="en-US" sz="850" dirty="0" err="1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action":"filter</a:t>
            </a: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"month":5,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"type":"同学"}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280660" y="128016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</a:rPr>
              <a:t>→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554980" y="914400"/>
            <a:ext cx="1417320" cy="1325880"/>
          </a:xfrm>
          <a:prstGeom prst="rect">
            <a:avLst/>
          </a:prstGeom>
          <a:solidFill>
            <a:srgbClr val="1E3260"/>
          </a:solidFill>
          <a:ln/>
          <a:effectLst>
            <a:outerShdw blurRad="381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554980" y="914400"/>
            <a:ext cx="1417320" cy="36576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7" name="Shape 25"/>
          <p:cNvSpPr/>
          <p:nvPr/>
        </p:nvSpPr>
        <p:spPr>
          <a:xfrm>
            <a:off x="6099048" y="1024128"/>
            <a:ext cx="329184" cy="329184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28" name="Text 26"/>
          <p:cNvSpPr/>
          <p:nvPr/>
        </p:nvSpPr>
        <p:spPr>
          <a:xfrm>
            <a:off x="6099048" y="102412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628132" y="1417320"/>
            <a:ext cx="127101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0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C++ 路由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824728" y="1645920"/>
            <a:ext cx="99669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解析 action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分发到对应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处理函数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6972300" y="128016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</a:rPr>
              <a:t>→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7246620" y="914400"/>
            <a:ext cx="1417320" cy="1325880"/>
          </a:xfrm>
          <a:prstGeom prst="rect">
            <a:avLst/>
          </a:prstGeom>
          <a:solidFill>
            <a:srgbClr val="1E3260"/>
          </a:solidFill>
          <a:ln/>
          <a:effectLst>
            <a:outerShdw blurRad="381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7246620" y="914400"/>
            <a:ext cx="1417320" cy="36576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34" name="Shape 32"/>
          <p:cNvSpPr/>
          <p:nvPr/>
        </p:nvSpPr>
        <p:spPr>
          <a:xfrm>
            <a:off x="7790688" y="1024128"/>
            <a:ext cx="329184" cy="329184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35" name="Text 33"/>
          <p:cNvSpPr/>
          <p:nvPr/>
        </p:nvSpPr>
        <p:spPr>
          <a:xfrm>
            <a:off x="7790688" y="102412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319772" y="1417320"/>
            <a:ext cx="127101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0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结果呈现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319772" y="1645920"/>
            <a:ext cx="127101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日志区输出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筛选结果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274320" y="2468880"/>
            <a:ext cx="8595360" cy="3657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9" name="Text 37"/>
          <p:cNvSpPr/>
          <p:nvPr/>
        </p:nvSpPr>
        <p:spPr>
          <a:xfrm>
            <a:off x="274320" y="26060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安全边界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457200" y="29718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AI 不获取联系人数据副本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57200" y="32918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AI 不参与增/删/改决策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754880" y="29718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AI 仅做意图识别与参数提取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754880" y="32918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所有操作由 C++ 业务逻辑执行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274320" y="3712464"/>
            <a:ext cx="8595360" cy="996696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45" name="Text 43"/>
          <p:cNvSpPr/>
          <p:nvPr/>
        </p:nvSpPr>
        <p:spPr>
          <a:xfrm>
            <a:off x="457200" y="3822192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系统提示词设计要点</a:t>
            </a:r>
            <a:endParaRPr lang="en-US" sz="9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900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定义 18 种 action 类型（search/add/edit/delete/sort/stat/birth/filter/chat...）</a:t>
            </a:r>
            <a:endParaRPr lang="en-US" sz="9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15 条 Few-shot 示例保证 JSON 格式稳定    </a:t>
            </a:r>
            <a:endParaRPr lang="en-US" sz="9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类型映射："同学"→type:1  "五月"→month:5    </a:t>
            </a:r>
            <a:endParaRPr lang="en-US" sz="9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未识别意图 → 友好提示用户重述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26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0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操作界面展示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229600" y="470916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cs typeface="Arial" pitchFamily="34" charset="-120"/>
              </a:rPr>
              <a:t>7</a:t>
            </a:r>
            <a:endParaRPr lang="en-US" sz="1000" dirty="0"/>
          </a:p>
        </p:txBody>
      </p:sp>
      <p:pic>
        <p:nvPicPr>
          <p:cNvPr id="4" name="Image 0" descr="c:\Users\lucky dog\Desktop\manager\screenshot\UI界面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65760" y="777240"/>
            <a:ext cx="5943600" cy="29260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65760" y="3429000"/>
            <a:ext cx="5943600" cy="274320"/>
          </a:xfrm>
          <a:prstGeom prst="rect">
            <a:avLst/>
          </a:prstGeom>
          <a:solidFill>
            <a:srgbClr val="111B2E">
              <a:alpha val="40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365760" y="342900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</a:t>
            </a:r>
            <a:r>
              <a:rPr lang="en-US" sz="800" dirty="0" err="1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截图中姓名、电话、邮箱</a:t>
            </a:r>
            <a:r>
              <a:rPr lang="zh-CN" altLang="en-US" sz="8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均为虚构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6492240" y="795528"/>
            <a:ext cx="256032" cy="256032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8" name="Text 5"/>
          <p:cNvSpPr/>
          <p:nvPr/>
        </p:nvSpPr>
        <p:spPr>
          <a:xfrm>
            <a:off x="6492240" y="79552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812280" y="777240"/>
            <a:ext cx="1965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0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功能按钮组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812280" y="923544"/>
            <a:ext cx="19659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增删改查/排序/统计/生日/AI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492240" y="1188720"/>
            <a:ext cx="256032" cy="256032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12" name="Text 9"/>
          <p:cNvSpPr/>
          <p:nvPr/>
        </p:nvSpPr>
        <p:spPr>
          <a:xfrm>
            <a:off x="6492240" y="118872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6812280" y="1170432"/>
            <a:ext cx="1965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0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快捷搜索框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812280" y="1316736"/>
            <a:ext cx="19659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Ctrl+F 聚焦，实时过滤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6492240" y="1581912"/>
            <a:ext cx="256032" cy="256032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16" name="Text 13"/>
          <p:cNvSpPr/>
          <p:nvPr/>
        </p:nvSpPr>
        <p:spPr>
          <a:xfrm>
            <a:off x="6492240" y="158191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6812280" y="1563624"/>
            <a:ext cx="1965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0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数据表格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6812280" y="1709928"/>
            <a:ext cx="19659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表头排序▲▼ · 生日高亮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6492240" y="1975104"/>
            <a:ext cx="256032" cy="256032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20" name="Text 17"/>
          <p:cNvSpPr/>
          <p:nvPr/>
        </p:nvSpPr>
        <p:spPr>
          <a:xfrm>
            <a:off x="6492240" y="197510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6812280" y="1956816"/>
            <a:ext cx="1965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0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输入区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6812280" y="2103120"/>
            <a:ext cx="19659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自然语言交互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6492240" y="2368296"/>
            <a:ext cx="256032" cy="256032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24" name="Text 21"/>
          <p:cNvSpPr/>
          <p:nvPr/>
        </p:nvSpPr>
        <p:spPr>
          <a:xfrm>
            <a:off x="6492240" y="236829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⑤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6812280" y="2350008"/>
            <a:ext cx="1965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0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操作日志区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6812280" y="2496312"/>
            <a:ext cx="19659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彩色分类消息</a:t>
            </a:r>
            <a:endParaRPr lang="en-US" sz="800" dirty="0"/>
          </a:p>
        </p:txBody>
      </p:sp>
      <p:sp>
        <p:nvSpPr>
          <p:cNvPr id="27" name="Shape 24"/>
          <p:cNvSpPr/>
          <p:nvPr/>
        </p:nvSpPr>
        <p:spPr>
          <a:xfrm>
            <a:off x="6492240" y="2761488"/>
            <a:ext cx="256032" cy="256032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28" name="Text 25"/>
          <p:cNvSpPr/>
          <p:nvPr/>
        </p:nvSpPr>
        <p:spPr>
          <a:xfrm>
            <a:off x="6492240" y="276148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⑥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6812280" y="2743200"/>
            <a:ext cx="1965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0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状态栏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6812280" y="2889504"/>
            <a:ext cx="19659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四类人数字统计</a:t>
            </a:r>
            <a:endParaRPr lang="en-US" sz="800" dirty="0"/>
          </a:p>
        </p:txBody>
      </p:sp>
      <p:sp>
        <p:nvSpPr>
          <p:cNvPr id="32" name="Shape 29"/>
          <p:cNvSpPr/>
          <p:nvPr/>
        </p:nvSpPr>
        <p:spPr>
          <a:xfrm>
            <a:off x="365760" y="4288536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1E3260"/>
          </a:solidFill>
          <a:ln/>
        </p:spPr>
      </p:sp>
      <p:sp>
        <p:nvSpPr>
          <p:cNvPr id="33" name="Text 30"/>
          <p:cNvSpPr/>
          <p:nvPr/>
        </p:nvSpPr>
        <p:spPr>
          <a:xfrm>
            <a:off x="365760" y="4288536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表头排序▲▼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1755648" y="4288536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1E3260"/>
          </a:solidFill>
          <a:ln/>
        </p:spPr>
      </p:sp>
      <p:sp>
        <p:nvSpPr>
          <p:cNvPr id="35" name="Text 32"/>
          <p:cNvSpPr/>
          <p:nvPr/>
        </p:nvSpPr>
        <p:spPr>
          <a:xfrm>
            <a:off x="1755648" y="4288536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右键菜单</a:t>
            </a:r>
            <a:endParaRPr lang="en-US" sz="850" dirty="0"/>
          </a:p>
        </p:txBody>
      </p:sp>
      <p:sp>
        <p:nvSpPr>
          <p:cNvPr id="36" name="Shape 33"/>
          <p:cNvSpPr/>
          <p:nvPr/>
        </p:nvSpPr>
        <p:spPr>
          <a:xfrm>
            <a:off x="3145536" y="4288536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1E3260"/>
          </a:solidFill>
          <a:ln/>
        </p:spPr>
      </p:sp>
      <p:sp>
        <p:nvSpPr>
          <p:cNvPr id="37" name="Text 34"/>
          <p:cNvSpPr/>
          <p:nvPr/>
        </p:nvSpPr>
        <p:spPr>
          <a:xfrm>
            <a:off x="3145536" y="4288536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双击编辑</a:t>
            </a:r>
            <a:endParaRPr lang="en-US" sz="850" dirty="0"/>
          </a:p>
        </p:txBody>
      </p:sp>
      <p:sp>
        <p:nvSpPr>
          <p:cNvPr id="38" name="Shape 35"/>
          <p:cNvSpPr/>
          <p:nvPr/>
        </p:nvSpPr>
        <p:spPr>
          <a:xfrm>
            <a:off x="4535424" y="4288536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1E3260"/>
          </a:solidFill>
          <a:ln/>
        </p:spPr>
      </p:sp>
      <p:sp>
        <p:nvSpPr>
          <p:cNvPr id="39" name="Text 36"/>
          <p:cNvSpPr/>
          <p:nvPr/>
        </p:nvSpPr>
        <p:spPr>
          <a:xfrm>
            <a:off x="4535424" y="4288536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Ctrl+N/Z/F/S</a:t>
            </a:r>
            <a:endParaRPr lang="en-US" sz="850" dirty="0"/>
          </a:p>
        </p:txBody>
      </p:sp>
      <p:sp>
        <p:nvSpPr>
          <p:cNvPr id="40" name="Shape 37"/>
          <p:cNvSpPr/>
          <p:nvPr/>
        </p:nvSpPr>
        <p:spPr>
          <a:xfrm>
            <a:off x="5925312" y="4288536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1E3260"/>
          </a:solidFill>
          <a:ln/>
        </p:spPr>
      </p:sp>
      <p:sp>
        <p:nvSpPr>
          <p:cNvPr id="41" name="Text 38"/>
          <p:cNvSpPr/>
          <p:nvPr/>
        </p:nvSpPr>
        <p:spPr>
          <a:xfrm>
            <a:off x="5925312" y="4288536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Delete/F5</a:t>
            </a:r>
            <a:endParaRPr lang="en-US" sz="850" dirty="0"/>
          </a:p>
        </p:txBody>
      </p:sp>
      <p:sp>
        <p:nvSpPr>
          <p:cNvPr id="42" name="Shape 39"/>
          <p:cNvSpPr/>
          <p:nvPr/>
        </p:nvSpPr>
        <p:spPr>
          <a:xfrm>
            <a:off x="7315200" y="4288536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1E3260"/>
          </a:solidFill>
          <a:ln/>
        </p:spPr>
      </p:sp>
      <p:sp>
        <p:nvSpPr>
          <p:cNvPr id="43" name="Text 40"/>
          <p:cNvSpPr/>
          <p:nvPr/>
        </p:nvSpPr>
        <p:spPr>
          <a:xfrm>
            <a:off x="7315200" y="4288536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暗亮主题切换</a:t>
            </a:r>
            <a:endParaRPr lang="en-US" sz="850" dirty="0"/>
          </a:p>
        </p:txBody>
      </p:sp>
      <p:pic>
        <p:nvPicPr>
          <p:cNvPr id="81" name="图片 80">
            <a:extLst>
              <a:ext uri="{FF2B5EF4-FFF2-40B4-BE49-F238E27FC236}">
                <a16:creationId xmlns:a16="http://schemas.microsoft.com/office/drawing/2014/main" id="{32F563C2-E67D-1006-01D4-0A51FEEB09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777240"/>
            <a:ext cx="5943600" cy="3347646"/>
          </a:xfrm>
          <a:prstGeom prst="rect">
            <a:avLst/>
          </a:prstGeom>
        </p:spPr>
      </p:pic>
      <p:pic>
        <p:nvPicPr>
          <p:cNvPr id="83" name="图片 82">
            <a:extLst>
              <a:ext uri="{FF2B5EF4-FFF2-40B4-BE49-F238E27FC236}">
                <a16:creationId xmlns:a16="http://schemas.microsoft.com/office/drawing/2014/main" id="{6D62A27A-A82C-FF53-9F29-A70B9BA22DA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1" y="777240"/>
            <a:ext cx="6007608" cy="3380814"/>
          </a:xfrm>
          <a:prstGeom prst="rect">
            <a:avLst/>
          </a:prstGeom>
        </p:spPr>
      </p:pic>
      <p:pic>
        <p:nvPicPr>
          <p:cNvPr id="87" name="图片 86">
            <a:extLst>
              <a:ext uri="{FF2B5EF4-FFF2-40B4-BE49-F238E27FC236}">
                <a16:creationId xmlns:a16="http://schemas.microsoft.com/office/drawing/2014/main" id="{90C13D50-4118-8B06-33B7-6D67EA6108F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4905" y="781229"/>
            <a:ext cx="6007607" cy="33768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26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2800" b="1" dirty="0">
                <a:solidFill>
                  <a:srgbClr val="F0F2F8"/>
                </a:solidFill>
                <a:latin typeface="Arial" pitchFamily="34" charset="0"/>
                <a:cs typeface="Arial" pitchFamily="34" charset="-120"/>
              </a:rPr>
              <a:t>创新点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229600" y="470916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cs typeface="Arial" pitchFamily="34" charset="-120"/>
              </a:rPr>
              <a:t>8</a:t>
            </a:r>
            <a:endParaRPr lang="en-US" sz="1000" dirty="0"/>
          </a:p>
        </p:txBody>
      </p:sp>
      <p:sp>
        <p:nvSpPr>
          <p:cNvPr id="91" name="Shape 2">
            <a:extLst>
              <a:ext uri="{FF2B5EF4-FFF2-40B4-BE49-F238E27FC236}">
                <a16:creationId xmlns:a16="http://schemas.microsoft.com/office/drawing/2014/main" id="{9C0A5D8F-CCBE-577A-CCDB-1B8AFC6B5983}"/>
              </a:ext>
            </a:extLst>
          </p:cNvPr>
          <p:cNvSpPr/>
          <p:nvPr/>
        </p:nvSpPr>
        <p:spPr>
          <a:xfrm>
            <a:off x="3085087" y="999858"/>
            <a:ext cx="2560320" cy="822960"/>
          </a:xfrm>
          <a:prstGeom prst="rect">
            <a:avLst/>
          </a:prstGeom>
          <a:solidFill>
            <a:srgbClr val="6366F1">
              <a:alpha val="70000"/>
            </a:srgbClr>
          </a:solidFill>
          <a:ln w="15240">
            <a:solidFill>
              <a:srgbClr val="818CF8"/>
            </a:solidFill>
            <a:prstDash val="solid"/>
          </a:ln>
        </p:spPr>
      </p:sp>
      <p:sp>
        <p:nvSpPr>
          <p:cNvPr id="93" name="Text 3">
            <a:extLst>
              <a:ext uri="{FF2B5EF4-FFF2-40B4-BE49-F238E27FC236}">
                <a16:creationId xmlns:a16="http://schemas.microsoft.com/office/drawing/2014/main" id="{39C0762C-C221-96CA-4938-54BFBA597D93}"/>
              </a:ext>
            </a:extLst>
          </p:cNvPr>
          <p:cNvSpPr/>
          <p:nvPr/>
        </p:nvSpPr>
        <p:spPr>
          <a:xfrm>
            <a:off x="3222247" y="1073010"/>
            <a:ext cx="22860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zh-CN" altLang="en-US" sz="1200" b="1" dirty="0">
                <a:solidFill>
                  <a:srgbClr val="F0F2F8"/>
                </a:solidFill>
                <a:latin typeface="Arial" pitchFamily="34" charset="0"/>
                <a:cs typeface="Arial" pitchFamily="34" charset="-120"/>
              </a:rPr>
              <a:t>个人通讯录管理系统</a:t>
            </a:r>
            <a:endParaRPr lang="en-US" altLang="zh-CN" sz="1200" dirty="0"/>
          </a:p>
        </p:txBody>
      </p:sp>
      <p:sp>
        <p:nvSpPr>
          <p:cNvPr id="95" name="Shape 4">
            <a:extLst>
              <a:ext uri="{FF2B5EF4-FFF2-40B4-BE49-F238E27FC236}">
                <a16:creationId xmlns:a16="http://schemas.microsoft.com/office/drawing/2014/main" id="{A047F800-36D9-6EFF-DE7A-C4E5C753E2AD}"/>
              </a:ext>
            </a:extLst>
          </p:cNvPr>
          <p:cNvSpPr/>
          <p:nvPr/>
        </p:nvSpPr>
        <p:spPr>
          <a:xfrm>
            <a:off x="4279522" y="1822818"/>
            <a:ext cx="0" cy="310896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97" name="Shape 5">
            <a:extLst>
              <a:ext uri="{FF2B5EF4-FFF2-40B4-BE49-F238E27FC236}">
                <a16:creationId xmlns:a16="http://schemas.microsoft.com/office/drawing/2014/main" id="{340F3ED6-4EA8-3E64-B730-9BD5371BBF41}"/>
              </a:ext>
            </a:extLst>
          </p:cNvPr>
          <p:cNvSpPr/>
          <p:nvPr/>
        </p:nvSpPr>
        <p:spPr>
          <a:xfrm>
            <a:off x="2084962" y="2133714"/>
            <a:ext cx="4297242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99" name="Shape 6">
            <a:extLst>
              <a:ext uri="{FF2B5EF4-FFF2-40B4-BE49-F238E27FC236}">
                <a16:creationId xmlns:a16="http://schemas.microsoft.com/office/drawing/2014/main" id="{D68234AD-B906-7F06-117A-FF695FCC0DC7}"/>
              </a:ext>
            </a:extLst>
          </p:cNvPr>
          <p:cNvSpPr/>
          <p:nvPr/>
        </p:nvSpPr>
        <p:spPr>
          <a:xfrm>
            <a:off x="2084962" y="2133714"/>
            <a:ext cx="0" cy="27432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101" name="Shape 7">
            <a:extLst>
              <a:ext uri="{FF2B5EF4-FFF2-40B4-BE49-F238E27FC236}">
                <a16:creationId xmlns:a16="http://schemas.microsoft.com/office/drawing/2014/main" id="{8294F075-13C1-D012-15C8-E0AE94863806}"/>
              </a:ext>
            </a:extLst>
          </p:cNvPr>
          <p:cNvSpPr/>
          <p:nvPr/>
        </p:nvSpPr>
        <p:spPr>
          <a:xfrm>
            <a:off x="1536322" y="2408034"/>
            <a:ext cx="1097280" cy="822960"/>
          </a:xfrm>
          <a:prstGeom prst="rect">
            <a:avLst/>
          </a:prstGeom>
          <a:solidFill>
            <a:srgbClr val="1E3260"/>
          </a:solidFill>
          <a:ln w="12700">
            <a:solidFill>
              <a:srgbClr val="3B82F6"/>
            </a:solidFill>
            <a:prstDash val="solid"/>
          </a:ln>
          <a:effectLst>
            <a:outerShdw blurRad="25400" dist="127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03" name="Shape 8">
            <a:extLst>
              <a:ext uri="{FF2B5EF4-FFF2-40B4-BE49-F238E27FC236}">
                <a16:creationId xmlns:a16="http://schemas.microsoft.com/office/drawing/2014/main" id="{8FED3C6B-8896-AFF9-03EF-BACB5C036C00}"/>
              </a:ext>
            </a:extLst>
          </p:cNvPr>
          <p:cNvSpPr/>
          <p:nvPr/>
        </p:nvSpPr>
        <p:spPr>
          <a:xfrm>
            <a:off x="1536322" y="2408034"/>
            <a:ext cx="109728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05" name="Text 9">
            <a:extLst>
              <a:ext uri="{FF2B5EF4-FFF2-40B4-BE49-F238E27FC236}">
                <a16:creationId xmlns:a16="http://schemas.microsoft.com/office/drawing/2014/main" id="{786DC022-F6F3-CBEB-82BD-186E77E9B56D}"/>
              </a:ext>
            </a:extLst>
          </p:cNvPr>
          <p:cNvSpPr/>
          <p:nvPr/>
        </p:nvSpPr>
        <p:spPr>
          <a:xfrm>
            <a:off x="1582042" y="2499474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chemeClr val="bg1"/>
                </a:solidFill>
                <a:latin typeface="Consolas" pitchFamily="34" charset="0"/>
              </a:rPr>
              <a:t>Qt6</a:t>
            </a:r>
            <a:r>
              <a:rPr lang="zh-CN" altLang="en-US" sz="800" dirty="0">
                <a:solidFill>
                  <a:schemeClr val="bg1"/>
                </a:solidFill>
                <a:latin typeface="Consolas" pitchFamily="34" charset="0"/>
              </a:rPr>
              <a:t>图形界面</a:t>
            </a:r>
            <a:endParaRPr lang="en-US" sz="800" dirty="0">
              <a:solidFill>
                <a:schemeClr val="bg1"/>
              </a:solidFill>
            </a:endParaRPr>
          </a:p>
        </p:txBody>
      </p:sp>
      <p:sp>
        <p:nvSpPr>
          <p:cNvPr id="107" name="Shape 10">
            <a:extLst>
              <a:ext uri="{FF2B5EF4-FFF2-40B4-BE49-F238E27FC236}">
                <a16:creationId xmlns:a16="http://schemas.microsoft.com/office/drawing/2014/main" id="{CFA7E8DC-BB07-60A8-21A1-31D1AEF2E689}"/>
              </a:ext>
            </a:extLst>
          </p:cNvPr>
          <p:cNvSpPr/>
          <p:nvPr/>
        </p:nvSpPr>
        <p:spPr>
          <a:xfrm>
            <a:off x="3540127" y="2127341"/>
            <a:ext cx="0" cy="27432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109" name="Shape 11">
            <a:extLst>
              <a:ext uri="{FF2B5EF4-FFF2-40B4-BE49-F238E27FC236}">
                <a16:creationId xmlns:a16="http://schemas.microsoft.com/office/drawing/2014/main" id="{A5D78B1B-E3F0-B58E-BB25-4655DDB13944}"/>
              </a:ext>
            </a:extLst>
          </p:cNvPr>
          <p:cNvSpPr/>
          <p:nvPr/>
        </p:nvSpPr>
        <p:spPr>
          <a:xfrm>
            <a:off x="2982736" y="2408034"/>
            <a:ext cx="1097280" cy="822960"/>
          </a:xfrm>
          <a:prstGeom prst="rect">
            <a:avLst/>
          </a:prstGeom>
          <a:solidFill>
            <a:srgbClr val="1E3260"/>
          </a:solidFill>
          <a:ln w="12700">
            <a:solidFill>
              <a:srgbClr val="10B981"/>
            </a:solidFill>
            <a:prstDash val="solid"/>
          </a:ln>
          <a:effectLst>
            <a:outerShdw blurRad="25400" dist="127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1" name="Shape 12">
            <a:extLst>
              <a:ext uri="{FF2B5EF4-FFF2-40B4-BE49-F238E27FC236}">
                <a16:creationId xmlns:a16="http://schemas.microsoft.com/office/drawing/2014/main" id="{824A3788-4AF0-0EA2-4720-85E4B532374D}"/>
              </a:ext>
            </a:extLst>
          </p:cNvPr>
          <p:cNvSpPr/>
          <p:nvPr/>
        </p:nvSpPr>
        <p:spPr>
          <a:xfrm>
            <a:off x="2982736" y="2408034"/>
            <a:ext cx="1097280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13" name="Text 13">
            <a:extLst>
              <a:ext uri="{FF2B5EF4-FFF2-40B4-BE49-F238E27FC236}">
                <a16:creationId xmlns:a16="http://schemas.microsoft.com/office/drawing/2014/main" id="{672B1548-5739-EB71-DD0C-B08C495BA161}"/>
              </a:ext>
            </a:extLst>
          </p:cNvPr>
          <p:cNvSpPr/>
          <p:nvPr/>
        </p:nvSpPr>
        <p:spPr>
          <a:xfrm>
            <a:off x="3028456" y="2499474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altLang="zh-CN" sz="800" dirty="0">
                <a:solidFill>
                  <a:schemeClr val="bg1"/>
                </a:solidFill>
              </a:rPr>
              <a:t>AI</a:t>
            </a:r>
            <a:r>
              <a:rPr lang="zh-CN" altLang="en-US" sz="800" dirty="0">
                <a:solidFill>
                  <a:schemeClr val="bg1"/>
                </a:solidFill>
              </a:rPr>
              <a:t>自然语言</a:t>
            </a:r>
            <a:endParaRPr lang="en-US" sz="800" dirty="0">
              <a:solidFill>
                <a:schemeClr val="bg1"/>
              </a:solidFill>
            </a:endParaRPr>
          </a:p>
        </p:txBody>
      </p:sp>
      <p:sp>
        <p:nvSpPr>
          <p:cNvPr id="115" name="Shape 14">
            <a:extLst>
              <a:ext uri="{FF2B5EF4-FFF2-40B4-BE49-F238E27FC236}">
                <a16:creationId xmlns:a16="http://schemas.microsoft.com/office/drawing/2014/main" id="{794ABDE7-5707-1C61-0B44-43DE94DDDD7F}"/>
              </a:ext>
            </a:extLst>
          </p:cNvPr>
          <p:cNvSpPr/>
          <p:nvPr/>
        </p:nvSpPr>
        <p:spPr>
          <a:xfrm>
            <a:off x="6382204" y="2127341"/>
            <a:ext cx="0" cy="27432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117" name="Shape 15">
            <a:extLst>
              <a:ext uri="{FF2B5EF4-FFF2-40B4-BE49-F238E27FC236}">
                <a16:creationId xmlns:a16="http://schemas.microsoft.com/office/drawing/2014/main" id="{B9E58B51-90DD-9E38-D6CD-7F4ABD8B35FC}"/>
              </a:ext>
            </a:extLst>
          </p:cNvPr>
          <p:cNvSpPr/>
          <p:nvPr/>
        </p:nvSpPr>
        <p:spPr>
          <a:xfrm>
            <a:off x="5860895" y="2408034"/>
            <a:ext cx="1097280" cy="822960"/>
          </a:xfrm>
          <a:prstGeom prst="rect">
            <a:avLst/>
          </a:prstGeom>
          <a:solidFill>
            <a:srgbClr val="1E3260"/>
          </a:solidFill>
          <a:ln w="12700">
            <a:solidFill>
              <a:srgbClr val="F59E0B"/>
            </a:solidFill>
            <a:prstDash val="solid"/>
          </a:ln>
          <a:effectLst>
            <a:outerShdw blurRad="25400" dist="127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9" name="Shape 16">
            <a:extLst>
              <a:ext uri="{FF2B5EF4-FFF2-40B4-BE49-F238E27FC236}">
                <a16:creationId xmlns:a16="http://schemas.microsoft.com/office/drawing/2014/main" id="{8C285B21-C8DB-0FEA-B4A7-BAD7718D07BD}"/>
              </a:ext>
            </a:extLst>
          </p:cNvPr>
          <p:cNvSpPr/>
          <p:nvPr/>
        </p:nvSpPr>
        <p:spPr>
          <a:xfrm>
            <a:off x="5860895" y="2408034"/>
            <a:ext cx="109728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1" name="Text 17">
            <a:extLst>
              <a:ext uri="{FF2B5EF4-FFF2-40B4-BE49-F238E27FC236}">
                <a16:creationId xmlns:a16="http://schemas.microsoft.com/office/drawing/2014/main" id="{28CF6467-1F01-E3D0-84BE-EF57D76A0783}"/>
              </a:ext>
            </a:extLst>
          </p:cNvPr>
          <p:cNvSpPr/>
          <p:nvPr/>
        </p:nvSpPr>
        <p:spPr>
          <a:xfrm>
            <a:off x="5906615" y="2499474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zh-CN" altLang="en-US" sz="8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细节与边界</a:t>
            </a:r>
            <a:endParaRPr lang="en-US" sz="800" dirty="0">
              <a:solidFill>
                <a:schemeClr val="bg1"/>
              </a:solidFill>
            </a:endParaRPr>
          </a:p>
        </p:txBody>
      </p:sp>
      <p:sp>
        <p:nvSpPr>
          <p:cNvPr id="123" name="Shape 11">
            <a:extLst>
              <a:ext uri="{FF2B5EF4-FFF2-40B4-BE49-F238E27FC236}">
                <a16:creationId xmlns:a16="http://schemas.microsoft.com/office/drawing/2014/main" id="{FBDEAC81-ED4A-8355-2990-04F9EB13A78D}"/>
              </a:ext>
            </a:extLst>
          </p:cNvPr>
          <p:cNvSpPr/>
          <p:nvPr/>
        </p:nvSpPr>
        <p:spPr>
          <a:xfrm>
            <a:off x="4424748" y="2408034"/>
            <a:ext cx="1097280" cy="822960"/>
          </a:xfrm>
          <a:prstGeom prst="rect">
            <a:avLst/>
          </a:prstGeom>
          <a:solidFill>
            <a:srgbClr val="1E3260"/>
          </a:solidFill>
          <a:ln w="12700">
            <a:solidFill>
              <a:srgbClr val="10B981"/>
            </a:solidFill>
            <a:prstDash val="solid"/>
          </a:ln>
          <a:effectLst>
            <a:outerShdw blurRad="25400" dist="127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25" name="Shape 12">
            <a:extLst>
              <a:ext uri="{FF2B5EF4-FFF2-40B4-BE49-F238E27FC236}">
                <a16:creationId xmlns:a16="http://schemas.microsoft.com/office/drawing/2014/main" id="{ED609ED9-F3CB-46D1-0A5A-22D7936E3295}"/>
              </a:ext>
            </a:extLst>
          </p:cNvPr>
          <p:cNvSpPr/>
          <p:nvPr/>
        </p:nvSpPr>
        <p:spPr>
          <a:xfrm>
            <a:off x="4424748" y="2408034"/>
            <a:ext cx="1097280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27" name="Text 13">
            <a:extLst>
              <a:ext uri="{FF2B5EF4-FFF2-40B4-BE49-F238E27FC236}">
                <a16:creationId xmlns:a16="http://schemas.microsoft.com/office/drawing/2014/main" id="{FB01A567-CAE6-BFF6-F57C-F55782FB4328}"/>
              </a:ext>
            </a:extLst>
          </p:cNvPr>
          <p:cNvSpPr/>
          <p:nvPr/>
        </p:nvSpPr>
        <p:spPr>
          <a:xfrm>
            <a:off x="4470468" y="2499474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zh-CN" altLang="en-US" sz="800" dirty="0">
                <a:solidFill>
                  <a:schemeClr val="bg1"/>
                </a:solidFill>
              </a:rPr>
              <a:t>架构与设计</a:t>
            </a:r>
            <a:endParaRPr lang="en-US" sz="800" dirty="0">
              <a:solidFill>
                <a:schemeClr val="bg1"/>
              </a:solidFill>
            </a:endParaRPr>
          </a:p>
        </p:txBody>
      </p:sp>
      <p:sp>
        <p:nvSpPr>
          <p:cNvPr id="129" name="Shape 10">
            <a:extLst>
              <a:ext uri="{FF2B5EF4-FFF2-40B4-BE49-F238E27FC236}">
                <a16:creationId xmlns:a16="http://schemas.microsoft.com/office/drawing/2014/main" id="{43D6D20D-428A-C7E8-75E2-CF83064DB55F}"/>
              </a:ext>
            </a:extLst>
          </p:cNvPr>
          <p:cNvSpPr/>
          <p:nvPr/>
        </p:nvSpPr>
        <p:spPr>
          <a:xfrm>
            <a:off x="5005063" y="2127341"/>
            <a:ext cx="0" cy="27432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131" name="Shape 7">
            <a:extLst>
              <a:ext uri="{FF2B5EF4-FFF2-40B4-BE49-F238E27FC236}">
                <a16:creationId xmlns:a16="http://schemas.microsoft.com/office/drawing/2014/main" id="{4E5C6EA3-3000-D24C-7901-B0312B918183}"/>
              </a:ext>
            </a:extLst>
          </p:cNvPr>
          <p:cNvSpPr/>
          <p:nvPr/>
        </p:nvSpPr>
        <p:spPr>
          <a:xfrm>
            <a:off x="1536322" y="3755364"/>
            <a:ext cx="1097280" cy="822960"/>
          </a:xfrm>
          <a:prstGeom prst="rect">
            <a:avLst/>
          </a:prstGeom>
          <a:solidFill>
            <a:srgbClr val="1E3260"/>
          </a:solidFill>
          <a:ln w="12700">
            <a:solidFill>
              <a:srgbClr val="3B82F6"/>
            </a:solidFill>
            <a:prstDash val="solid"/>
          </a:ln>
          <a:effectLst>
            <a:outerShdw blurRad="25400" dist="127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pPr algn="just"/>
            <a:r>
              <a:rPr lang="zh-CN" altLang="zh-CN" sz="800" dirty="0">
                <a:solidFill>
                  <a:schemeClr val="bg1"/>
                </a:solidFill>
              </a:rPr>
              <a:t>交互细节让程序"像软件不像作业"</a:t>
            </a:r>
          </a:p>
          <a:p>
            <a:pPr algn="just"/>
            <a:endParaRPr lang="zh-CN" altLang="en-US" sz="800" dirty="0">
              <a:solidFill>
                <a:schemeClr val="bg1"/>
              </a:solidFill>
            </a:endParaRPr>
          </a:p>
        </p:txBody>
      </p:sp>
      <p:sp>
        <p:nvSpPr>
          <p:cNvPr id="133" name="Shape 11">
            <a:extLst>
              <a:ext uri="{FF2B5EF4-FFF2-40B4-BE49-F238E27FC236}">
                <a16:creationId xmlns:a16="http://schemas.microsoft.com/office/drawing/2014/main" id="{F7702652-3BC5-5A76-A9DF-E0FEDA029D06}"/>
              </a:ext>
            </a:extLst>
          </p:cNvPr>
          <p:cNvSpPr/>
          <p:nvPr/>
        </p:nvSpPr>
        <p:spPr>
          <a:xfrm>
            <a:off x="2982736" y="3755364"/>
            <a:ext cx="1097280" cy="822960"/>
          </a:xfrm>
          <a:prstGeom prst="rect">
            <a:avLst/>
          </a:prstGeom>
          <a:solidFill>
            <a:srgbClr val="1E3260"/>
          </a:solidFill>
          <a:ln w="12700">
            <a:solidFill>
              <a:srgbClr val="10B981"/>
            </a:solidFill>
            <a:prstDash val="solid"/>
          </a:ln>
          <a:effectLst>
            <a:outerShdw blurRad="25400" dist="127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pPr algn="just"/>
            <a:r>
              <a:rPr lang="zh-CN" altLang="zh-CN" sz="800" dirty="0">
                <a:solidFill>
                  <a:schemeClr val="bg1"/>
                </a:solidFill>
              </a:rPr>
              <a:t>AI 只做意图翻译不碰数据，人话 → JSON → C++ 路由安全执行</a:t>
            </a:r>
          </a:p>
          <a:p>
            <a:endParaRPr lang="zh-CN" altLang="zh-CN" sz="800" dirty="0">
              <a:solidFill>
                <a:schemeClr val="bg1"/>
              </a:solidFill>
            </a:endParaRPr>
          </a:p>
        </p:txBody>
      </p:sp>
      <p:sp>
        <p:nvSpPr>
          <p:cNvPr id="135" name="Shape 11">
            <a:extLst>
              <a:ext uri="{FF2B5EF4-FFF2-40B4-BE49-F238E27FC236}">
                <a16:creationId xmlns:a16="http://schemas.microsoft.com/office/drawing/2014/main" id="{CF0ACC10-AEB6-A398-8164-C011B1D1684E}"/>
              </a:ext>
            </a:extLst>
          </p:cNvPr>
          <p:cNvSpPr/>
          <p:nvPr/>
        </p:nvSpPr>
        <p:spPr>
          <a:xfrm>
            <a:off x="4424748" y="3755364"/>
            <a:ext cx="1097280" cy="822960"/>
          </a:xfrm>
          <a:prstGeom prst="rect">
            <a:avLst/>
          </a:prstGeom>
          <a:solidFill>
            <a:srgbClr val="1E3260"/>
          </a:solidFill>
          <a:ln w="12700">
            <a:solidFill>
              <a:srgbClr val="10B981"/>
            </a:solidFill>
            <a:prstDash val="solid"/>
          </a:ln>
          <a:effectLst>
            <a:outerShdw blurRad="25400" dist="127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pPr algn="just"/>
            <a:r>
              <a:rPr lang="zh-CN" altLang="zh-CN" sz="800" dirty="0">
                <a:solidFill>
                  <a:schemeClr val="bg1"/>
                </a:solidFill>
              </a:rPr>
              <a:t>终端 + UI 共享 Core.hpp 一套核心，业务逻辑写一次，两个界面同步复用</a:t>
            </a:r>
          </a:p>
          <a:p>
            <a:endParaRPr lang="zh-CN" altLang="zh-CN" sz="800" dirty="0">
              <a:solidFill>
                <a:schemeClr val="bg1"/>
              </a:solidFill>
            </a:endParaRPr>
          </a:p>
        </p:txBody>
      </p:sp>
      <p:sp>
        <p:nvSpPr>
          <p:cNvPr id="137" name="Shape 15">
            <a:extLst>
              <a:ext uri="{FF2B5EF4-FFF2-40B4-BE49-F238E27FC236}">
                <a16:creationId xmlns:a16="http://schemas.microsoft.com/office/drawing/2014/main" id="{CDCF44E7-798E-1A26-BC6C-B900A4DC74F4}"/>
              </a:ext>
            </a:extLst>
          </p:cNvPr>
          <p:cNvSpPr/>
          <p:nvPr/>
        </p:nvSpPr>
        <p:spPr>
          <a:xfrm>
            <a:off x="5860894" y="3755364"/>
            <a:ext cx="1097281" cy="822960"/>
          </a:xfrm>
          <a:prstGeom prst="rect">
            <a:avLst/>
          </a:prstGeom>
          <a:solidFill>
            <a:srgbClr val="1E3260"/>
          </a:solidFill>
          <a:ln w="12700">
            <a:solidFill>
              <a:srgbClr val="F59E0B"/>
            </a:solidFill>
            <a:prstDash val="solid"/>
          </a:ln>
          <a:effectLst>
            <a:outerShdw blurRad="25400" dist="127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pPr algn="just"/>
            <a:r>
              <a:rPr lang="zh-CN" altLang="zh-CN" sz="800" dirty="0">
                <a:solidFill>
                  <a:schemeClr val="bg1"/>
                </a:solidFill>
              </a:rPr>
              <a:t>mktime 自动处理 12/31 → 01/04，手写分支不可靠</a:t>
            </a:r>
            <a:r>
              <a:rPr lang="zh-CN" altLang="en-US" sz="800" dirty="0">
                <a:solidFill>
                  <a:schemeClr val="bg1"/>
                </a:solidFill>
              </a:rPr>
              <a:t>、</a:t>
            </a:r>
            <a:r>
              <a:rPr lang="zh-CN" altLang="zh-CN" sz="800" dirty="0">
                <a:solidFill>
                  <a:schemeClr val="bg1"/>
                </a:solidFill>
              </a:rPr>
              <a:t>边界条件用标准库解决，不手写分支</a:t>
            </a:r>
          </a:p>
          <a:p>
            <a:endParaRPr lang="zh-CN" altLang="en-US" sz="800" dirty="0">
              <a:solidFill>
                <a:schemeClr val="bg1"/>
              </a:solidFill>
            </a:endParaRPr>
          </a:p>
        </p:txBody>
      </p:sp>
      <p:sp>
        <p:nvSpPr>
          <p:cNvPr id="139" name="Shape 6">
            <a:extLst>
              <a:ext uri="{FF2B5EF4-FFF2-40B4-BE49-F238E27FC236}">
                <a16:creationId xmlns:a16="http://schemas.microsoft.com/office/drawing/2014/main" id="{5AF230B5-79BB-ACAC-C64E-EDCD3CF5993B}"/>
              </a:ext>
            </a:extLst>
          </p:cNvPr>
          <p:cNvSpPr/>
          <p:nvPr/>
        </p:nvSpPr>
        <p:spPr>
          <a:xfrm>
            <a:off x="2084962" y="3230995"/>
            <a:ext cx="0" cy="524369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141" name="Shape 6">
            <a:extLst>
              <a:ext uri="{FF2B5EF4-FFF2-40B4-BE49-F238E27FC236}">
                <a16:creationId xmlns:a16="http://schemas.microsoft.com/office/drawing/2014/main" id="{FEE4A048-6E80-0870-E55F-B7A5D9996772}"/>
              </a:ext>
            </a:extLst>
          </p:cNvPr>
          <p:cNvSpPr/>
          <p:nvPr/>
        </p:nvSpPr>
        <p:spPr>
          <a:xfrm>
            <a:off x="3540127" y="3236190"/>
            <a:ext cx="0" cy="524369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143" name="Shape 6">
            <a:extLst>
              <a:ext uri="{FF2B5EF4-FFF2-40B4-BE49-F238E27FC236}">
                <a16:creationId xmlns:a16="http://schemas.microsoft.com/office/drawing/2014/main" id="{7B8A23E2-E90C-0375-4BD6-F146DAEFCF3B}"/>
              </a:ext>
            </a:extLst>
          </p:cNvPr>
          <p:cNvSpPr/>
          <p:nvPr/>
        </p:nvSpPr>
        <p:spPr>
          <a:xfrm>
            <a:off x="6397066" y="3230995"/>
            <a:ext cx="0" cy="524369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145" name="Shape 6">
            <a:extLst>
              <a:ext uri="{FF2B5EF4-FFF2-40B4-BE49-F238E27FC236}">
                <a16:creationId xmlns:a16="http://schemas.microsoft.com/office/drawing/2014/main" id="{6EE6424A-3461-250E-629F-259DDE48D31E}"/>
              </a:ext>
            </a:extLst>
          </p:cNvPr>
          <p:cNvSpPr/>
          <p:nvPr/>
        </p:nvSpPr>
        <p:spPr>
          <a:xfrm>
            <a:off x="4977387" y="3236190"/>
            <a:ext cx="0" cy="524369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1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-2011680"/>
            <a:ext cx="5029200" cy="5029200"/>
          </a:xfrm>
          <a:prstGeom prst="ellipse">
            <a:avLst/>
          </a:prstGeom>
          <a:solidFill>
            <a:srgbClr val="6366F1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2286000"/>
            <a:ext cx="3657600" cy="3657600"/>
          </a:xfrm>
          <a:prstGeom prst="ellipse">
            <a:avLst/>
          </a:prstGeom>
          <a:solidFill>
            <a:srgbClr val="6366F1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371600" y="27432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总结与收获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200400" y="960120"/>
            <a:ext cx="2743200" cy="0"/>
          </a:xfrm>
          <a:prstGeom prst="line">
            <a:avLst/>
          </a:prstGeom>
          <a:noFill/>
          <a:ln w="19050">
            <a:solidFill>
              <a:srgbClr val="6366F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833372"/>
            <a:ext cx="1920240" cy="1005840"/>
          </a:xfrm>
          <a:prstGeom prst="rect">
            <a:avLst/>
          </a:prstGeom>
          <a:solidFill>
            <a:srgbClr val="1E3260"/>
          </a:solidFill>
          <a:ln/>
        </p:spPr>
      </p:sp>
      <p:sp>
        <p:nvSpPr>
          <p:cNvPr id="7" name="Shape 5"/>
          <p:cNvSpPr/>
          <p:nvPr/>
        </p:nvSpPr>
        <p:spPr>
          <a:xfrm>
            <a:off x="502920" y="1833372"/>
            <a:ext cx="1920240" cy="36576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924812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8+3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40080" y="224485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任务全覆盖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79" y="2455164"/>
            <a:ext cx="1645921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基础功能 + 补充提示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全部完成且可运行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606040" y="1833372"/>
            <a:ext cx="1920240" cy="1005840"/>
          </a:xfrm>
          <a:prstGeom prst="rect">
            <a:avLst/>
          </a:prstGeom>
          <a:solidFill>
            <a:srgbClr val="1E3260"/>
          </a:solidFill>
          <a:ln/>
        </p:spPr>
      </p:sp>
      <p:sp>
        <p:nvSpPr>
          <p:cNvPr id="12" name="Shape 10"/>
          <p:cNvSpPr/>
          <p:nvPr/>
        </p:nvSpPr>
        <p:spPr>
          <a:xfrm>
            <a:off x="2606040" y="1833372"/>
            <a:ext cx="1920240" cy="3657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3" name="Text 11"/>
          <p:cNvSpPr/>
          <p:nvPr/>
        </p:nvSpPr>
        <p:spPr>
          <a:xfrm>
            <a:off x="2743200" y="1924812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OOP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2743200" y="224485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面向对象落地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743200" y="2496312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封装·继承·多态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在 display() 虚函数机制中体现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754880" y="1828800"/>
            <a:ext cx="1920240" cy="1005840"/>
          </a:xfrm>
          <a:prstGeom prst="rect">
            <a:avLst/>
          </a:prstGeom>
          <a:solidFill>
            <a:srgbClr val="1E3260"/>
          </a:solidFill>
          <a:ln/>
        </p:spPr>
      </p:sp>
      <p:sp>
        <p:nvSpPr>
          <p:cNvPr id="17" name="Shape 15"/>
          <p:cNvSpPr/>
          <p:nvPr/>
        </p:nvSpPr>
        <p:spPr>
          <a:xfrm>
            <a:off x="4754880" y="1828800"/>
            <a:ext cx="192024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4892040" y="19202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C++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892040" y="224028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现代 C++ 实践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92040" y="2450592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unique_ptr / </a:t>
            </a:r>
            <a:r>
              <a:rPr lang="en-US" sz="950" dirty="0" err="1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string_view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858000" y="1828800"/>
            <a:ext cx="1920240" cy="1005840"/>
          </a:xfrm>
          <a:prstGeom prst="rect">
            <a:avLst/>
          </a:prstGeom>
          <a:solidFill>
            <a:srgbClr val="1E3260"/>
          </a:solidFill>
          <a:ln/>
        </p:spPr>
      </p:sp>
      <p:sp>
        <p:nvSpPr>
          <p:cNvPr id="22" name="Shape 20"/>
          <p:cNvSpPr/>
          <p:nvPr/>
        </p:nvSpPr>
        <p:spPr>
          <a:xfrm>
            <a:off x="6858000" y="1828800"/>
            <a:ext cx="1920240" cy="36576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3" name="Text 21"/>
          <p:cNvSpPr/>
          <p:nvPr/>
        </p:nvSpPr>
        <p:spPr>
          <a:xfrm>
            <a:off x="6995160" y="19202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6995160" y="224028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工程思维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995160" y="2450592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共享层 · AI 安全边界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跨年边界条件处理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57200" y="3520440"/>
            <a:ext cx="8229600" cy="640080"/>
          </a:xfrm>
          <a:prstGeom prst="rect">
            <a:avLst/>
          </a:prstGeom>
          <a:solidFill>
            <a:srgbClr val="6366F1">
              <a:alpha val="2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731520" y="3547872"/>
            <a:ext cx="76809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"不只是交一份作业——把 C++ 课上学到的每一章，都写进了项目里。"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1371600" y="43434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 err="1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请老师批评指正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黄湘林  ·  计算机类 3 班  ·  202530450655  ·  2026.06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166</TotalTime>
  <Words>915</Words>
  <Application>Microsoft Office PowerPoint</Application>
  <PresentationFormat>全屏显示(16:9)</PresentationFormat>
  <Paragraphs>240</Paragraphs>
  <Slides>9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2" baseType="lpstr">
      <vt:lpstr>Arial</vt:lpstr>
      <vt:lpstr>Consolas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个人通信录管理系统 - 课程答辩</dc:title>
  <dc:subject>PptxGenJS Presentation</dc:subject>
  <dc:creator>黄湘林</dc:creator>
  <cp:lastModifiedBy>同学 高木</cp:lastModifiedBy>
  <cp:revision>20</cp:revision>
  <dcterms:created xsi:type="dcterms:W3CDTF">2026-06-09T17:09:13Z</dcterms:created>
  <dcterms:modified xsi:type="dcterms:W3CDTF">2026-06-10T06:13:19Z</dcterms:modified>
</cp:coreProperties>
</file>